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071183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7071183" y="0"/>
            <a:ext cx="5120512" cy="6858000"/>
          </a:xfrm>
          <a:prstGeom prst="rect">
            <a:avLst/>
          </a:prstGeom>
          <a:solidFill>
            <a:srgbClr val="EAEFF4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40080" y="1874520"/>
            <a:ext cx="5943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9C6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SCAMGUARD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2194560"/>
            <a:ext cx="6035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1C25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ScamGuard</a:t>
            </a:r>
            <a:endParaRPr lang="en-US" sz="54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3200400"/>
            <a:ext cx="6035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Don't just detect the scam. Understand the attack.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3703320"/>
            <a:ext cx="6035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 Scam Defense &amp; Threat Intelligence Platform, powered by Gemini AI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40080" y="4617720"/>
            <a:ext cx="4937760" cy="0"/>
          </a:xfrm>
          <a:prstGeom prst="line">
            <a:avLst/>
          </a:prstGeom>
          <a:noFill/>
          <a:ln w="12700">
            <a:solidFill>
              <a:srgbClr val="DEDBD3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40080" y="480060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1C2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MULTI-MODAL INPUT</a:t>
            </a:r>
            <a:endParaRPr lang="en-US" sz="950" dirty="0"/>
          </a:p>
        </p:txBody>
      </p:sp>
      <p:sp>
        <p:nvSpPr>
          <p:cNvPr id="10" name="Text 8"/>
          <p:cNvSpPr txBox="1"/>
          <p:nvPr/>
        </p:nvSpPr>
        <p:spPr>
          <a:xfrm>
            <a:off x="2560320" y="480060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1C2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FORENSIC ANALYSIS</a:t>
            </a:r>
            <a:endParaRPr lang="en-US" sz="950" dirty="0"/>
          </a:p>
        </p:txBody>
      </p:sp>
      <p:sp>
        <p:nvSpPr>
          <p:cNvPr id="11" name="Text 9"/>
          <p:cNvSpPr txBox="1"/>
          <p:nvPr/>
        </p:nvSpPr>
        <p:spPr>
          <a:xfrm>
            <a:off x="4480560" y="480060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1C2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ZERO-RETENTION PRIVACY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8579879" y="2560320"/>
            <a:ext cx="137160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</p:spPr>
      </p:sp>
      <p:sp>
        <p:nvSpPr>
          <p:cNvPr id="13" name="Shape 11"/>
          <p:cNvSpPr/>
          <p:nvPr/>
        </p:nvSpPr>
        <p:spPr>
          <a:xfrm>
            <a:off x="9311399" y="2926080"/>
            <a:ext cx="1371600" cy="1371600"/>
          </a:xfrm>
          <a:prstGeom prst="roundRect">
            <a:avLst>
              <a:gd name="adj" fmla="val 8000"/>
            </a:avLst>
          </a:prstGeom>
          <a:solidFill>
            <a:srgbClr val="2F6F6D"/>
          </a:solidFill>
          <a:ln/>
        </p:spPr>
      </p:sp>
      <p:sp>
        <p:nvSpPr>
          <p:cNvPr id="14" name="Shape 12"/>
          <p:cNvSpPr/>
          <p:nvPr/>
        </p:nvSpPr>
        <p:spPr>
          <a:xfrm>
            <a:off x="8854199" y="3566160"/>
            <a:ext cx="1051560" cy="1051560"/>
          </a:xfrm>
          <a:prstGeom prst="roundRect">
            <a:avLst>
              <a:gd name="adj" fmla="val 8696"/>
            </a:avLst>
          </a:prstGeom>
          <a:solidFill>
            <a:srgbClr val="1C2541"/>
          </a:solidFill>
          <a:ln/>
        </p:spPr>
      </p:sp>
      <p:sp>
        <p:nvSpPr>
          <p:cNvPr id="15" name="Shape 13"/>
          <p:cNvSpPr/>
          <p:nvPr/>
        </p:nvSpPr>
        <p:spPr>
          <a:xfrm>
            <a:off x="10134359" y="2377440"/>
            <a:ext cx="777240" cy="777240"/>
          </a:xfrm>
          <a:prstGeom prst="roundRect">
            <a:avLst>
              <a:gd name="adj" fmla="val 9412"/>
            </a:avLst>
          </a:prstGeom>
          <a:solidFill>
            <a:srgbClr val="9C6B30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9311399" y="2926080"/>
            <a:ext cx="1371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4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1737360" cy="310896"/>
          </a:xfrm>
          <a:prstGeom prst="roundRect">
            <a:avLst>
              <a:gd name="adj" fmla="val 17647"/>
            </a:avLst>
          </a:prstGeom>
          <a:solidFill>
            <a:srgbClr val="9C6B30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502920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CHALLENGE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005840"/>
            <a:ext cx="1091153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25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Modern Scams Target Psychology, Not Software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664208"/>
            <a:ext cx="1091153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Legacy antivirus scans files for malware. Today's scammers hack human trust instead.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40080" y="2148840"/>
            <a:ext cx="3566160" cy="3794760"/>
          </a:xfrm>
          <a:prstGeom prst="rect">
            <a:avLst/>
          </a:prstGeom>
          <a:solidFill>
            <a:srgbClr val="F5EEE2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1005840" y="2651760"/>
            <a:ext cx="2926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9C6B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$10B+</a:t>
            </a:r>
            <a:endParaRPr lang="en-US" sz="4600" dirty="0"/>
          </a:p>
        </p:txBody>
      </p:sp>
      <p:sp>
        <p:nvSpPr>
          <p:cNvPr id="8" name="Text 6"/>
          <p:cNvSpPr txBox="1"/>
          <p:nvPr/>
        </p:nvSpPr>
        <p:spPr>
          <a:xfrm>
            <a:off x="1005840" y="3520440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lost to scams every year in the U.S. alone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846320" y="2331720"/>
            <a:ext cx="475488" cy="475488"/>
          </a:xfrm>
          <a:prstGeom prst="roundRect">
            <a:avLst>
              <a:gd name="adj" fmla="val 13462"/>
            </a:avLst>
          </a:prstGeom>
          <a:solidFill>
            <a:srgbClr val="9C6B30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4846320" y="233172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5522976" y="2304288"/>
            <a:ext cx="6028639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2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 Engineering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5522976" y="2642616"/>
            <a:ext cx="6028639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Urgency, fear, and fake authority replace malware code.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4846320" y="3566160"/>
            <a:ext cx="475488" cy="475488"/>
          </a:xfrm>
          <a:prstGeom prst="roundRect">
            <a:avLst>
              <a:gd name="adj" fmla="val 13462"/>
            </a:avLst>
          </a:prstGeom>
          <a:solidFill>
            <a:srgbClr val="9C6B30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4846320" y="356616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5522976" y="3538728"/>
            <a:ext cx="6028639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2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Opaque Alerts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5522976" y="3877056"/>
            <a:ext cx="6028639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Legacy tools flag messages as ‘suspicious’ without explaining why.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4846320" y="4800600"/>
            <a:ext cx="475488" cy="475488"/>
          </a:xfrm>
          <a:prstGeom prst="roundRect">
            <a:avLst>
              <a:gd name="adj" fmla="val 13462"/>
            </a:avLst>
          </a:prstGeom>
          <a:solidFill>
            <a:srgbClr val="9C6B30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4846320" y="480060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5522976" y="4773168"/>
            <a:ext cx="6028639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2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Cross-Channel Attacks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5522976" y="5111496"/>
            <a:ext cx="6028639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Scams move from SMS to fake websites to messaging apps.</a:t>
            </a:r>
            <a:endParaRPr lang="en-US" sz="1250" dirty="0"/>
          </a:p>
        </p:txBody>
      </p:sp>
      <p:sp>
        <p:nvSpPr>
          <p:cNvPr id="21" name="Text 19"/>
          <p:cNvSpPr txBox="1"/>
          <p:nvPr/>
        </p:nvSpPr>
        <p:spPr>
          <a:xfrm>
            <a:off x="640080" y="64465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ScamGuard</a:t>
            </a:r>
            <a:endParaRPr lang="en-US" sz="900" dirty="0"/>
          </a:p>
        </p:txBody>
      </p:sp>
      <p:sp>
        <p:nvSpPr>
          <p:cNvPr id="22" name="Text 20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8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2651760" cy="310896"/>
          </a:xfrm>
          <a:prstGeom prst="roundRect">
            <a:avLst>
              <a:gd name="adj" fmla="val 17647"/>
            </a:avLst>
          </a:prstGeom>
          <a:solidFill>
            <a:srgbClr val="2F6F6D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502920"/>
            <a:ext cx="2651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SCAMGUARD PARADIGM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005840"/>
            <a:ext cx="1091153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25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Replacing Cryptic Warnings with Clear Answers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664208"/>
            <a:ext cx="1091153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Actionable, transparent forensic intelligence — in plain English.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40080" y="3520440"/>
            <a:ext cx="475488" cy="475488"/>
          </a:xfrm>
          <a:prstGeom prst="roundRect">
            <a:avLst>
              <a:gd name="adj" fmla="val 13462"/>
            </a:avLst>
          </a:prstGeom>
          <a:solidFill>
            <a:srgbClr val="2F6F6D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640080" y="352044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1316736" y="3493008"/>
            <a:ext cx="271668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2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Scoring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1316736" y="3831336"/>
            <a:ext cx="271668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calibrated 0–100% threat score, explained in plain English.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399178" y="3520440"/>
            <a:ext cx="475488" cy="475488"/>
          </a:xfrm>
          <a:prstGeom prst="roundRect">
            <a:avLst>
              <a:gd name="adj" fmla="val 13462"/>
            </a:avLst>
          </a:prstGeom>
          <a:solidFill>
            <a:srgbClr val="9C6B30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399178" y="352044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5075834" y="3493008"/>
            <a:ext cx="271668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2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Attack Chain Mapping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5075834" y="3831336"/>
            <a:ext cx="271668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visual, step-by-step breakdown of how the scam works.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8158277" y="3520440"/>
            <a:ext cx="475488" cy="475488"/>
          </a:xfrm>
          <a:prstGeom prst="roundRect">
            <a:avLst>
              <a:gd name="adj" fmla="val 13462"/>
            </a:avLst>
          </a:prstGeom>
          <a:solidFill>
            <a:srgbClr val="AA5B3F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8158277" y="352044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8834933" y="3493008"/>
            <a:ext cx="271668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2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Recovery Blueprint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8834933" y="3831336"/>
            <a:ext cx="271668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Prioritized steps to undo the damage and stay safe.</a:t>
            </a:r>
            <a:endParaRPr lang="en-US" sz="1250" dirty="0"/>
          </a:p>
        </p:txBody>
      </p:sp>
      <p:sp>
        <p:nvSpPr>
          <p:cNvPr id="18" name="Text 16"/>
          <p:cNvSpPr txBox="1"/>
          <p:nvPr/>
        </p:nvSpPr>
        <p:spPr>
          <a:xfrm>
            <a:off x="640080" y="64465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ScamGuard</a:t>
            </a:r>
            <a:endParaRPr lang="en-US" sz="900" dirty="0"/>
          </a:p>
        </p:txBody>
      </p:sp>
      <p:sp>
        <p:nvSpPr>
          <p:cNvPr id="19" name="Text 17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8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2514600" cy="310896"/>
          </a:xfrm>
          <a:prstGeom prst="roundRect">
            <a:avLst>
              <a:gd name="adj" fmla="val 17647"/>
            </a:avLst>
          </a:prstGeom>
          <a:solidFill>
            <a:srgbClr val="AA5B3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502920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MULTI-MODAL INGESTION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005840"/>
            <a:ext cx="1091153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25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Ways to Check a Scam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664208"/>
            <a:ext cx="1091153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Whether it's a text, a screenshot, or a link — ScamGuard analyzes it all.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40080" y="3520440"/>
            <a:ext cx="475488" cy="475488"/>
          </a:xfrm>
          <a:prstGeom prst="roundRect">
            <a:avLst>
              <a:gd name="adj" fmla="val 13462"/>
            </a:avLst>
          </a:prstGeom>
          <a:solidFill>
            <a:srgbClr val="AA5B3F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640080" y="352044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1316736" y="3493008"/>
            <a:ext cx="271668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2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&amp; Messages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1316736" y="3831336"/>
            <a:ext cx="271668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Paste an SMS, email, or DM for instant linguistic analysis.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1316736" y="4480560"/>
            <a:ext cx="271668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AA5B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SUB-SECOND ANALYSIS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399178" y="3520440"/>
            <a:ext cx="475488" cy="475488"/>
          </a:xfrm>
          <a:prstGeom prst="roundRect">
            <a:avLst>
              <a:gd name="adj" fmla="val 13462"/>
            </a:avLst>
          </a:prstGeom>
          <a:solidFill>
            <a:srgbClr val="3B5B7D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4399178" y="352044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5075834" y="3493008"/>
            <a:ext cx="271668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2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Screenshots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5075834" y="3831336"/>
            <a:ext cx="271668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 a photo — Gemini Vision reads and checks it for you.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5075834" y="4480560"/>
            <a:ext cx="271668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3B5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SUPPORTS PNG, JPG, HEIC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8158277" y="3520440"/>
            <a:ext cx="475488" cy="475488"/>
          </a:xfrm>
          <a:prstGeom prst="roundRect">
            <a:avLst>
              <a:gd name="adj" fmla="val 13462"/>
            </a:avLst>
          </a:prstGeom>
          <a:solidFill>
            <a:srgbClr val="2F6F6D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8158277" y="352044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8834933" y="3493008"/>
            <a:ext cx="271668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2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URLs &amp; Links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8834933" y="3831336"/>
            <a:ext cx="271668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Safely inspect suspicious links without ever clicking them.</a:t>
            </a:r>
            <a:endParaRPr lang="en-US" sz="1250" dirty="0"/>
          </a:p>
        </p:txBody>
      </p:sp>
      <p:sp>
        <p:nvSpPr>
          <p:cNvPr id="20" name="Text 18"/>
          <p:cNvSpPr txBox="1"/>
          <p:nvPr/>
        </p:nvSpPr>
        <p:spPr>
          <a:xfrm>
            <a:off x="8834933" y="4480560"/>
            <a:ext cx="271668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2F6F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ZERO-CLICK INSPECTION</a:t>
            </a:r>
            <a:endParaRPr lang="en-US" sz="950" dirty="0"/>
          </a:p>
        </p:txBody>
      </p:sp>
      <p:sp>
        <p:nvSpPr>
          <p:cNvPr id="21" name="Text 19"/>
          <p:cNvSpPr txBox="1"/>
          <p:nvPr/>
        </p:nvSpPr>
        <p:spPr>
          <a:xfrm>
            <a:off x="640080" y="64465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ScamGuard</a:t>
            </a:r>
            <a:endParaRPr lang="en-US" sz="900" dirty="0"/>
          </a:p>
        </p:txBody>
      </p:sp>
      <p:sp>
        <p:nvSpPr>
          <p:cNvPr id="22" name="Text 20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8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1737360" cy="310896"/>
          </a:xfrm>
          <a:prstGeom prst="roundRect">
            <a:avLst>
              <a:gd name="adj" fmla="val 17647"/>
            </a:avLst>
          </a:prstGeom>
          <a:solidFill>
            <a:srgbClr val="3B5B7D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502920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 THE HOOD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005840"/>
            <a:ext cx="1091153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25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ScamGuard Works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664208"/>
            <a:ext cx="1091153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simple, decoupled pipeline from input to insight.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40080" y="3566160"/>
            <a:ext cx="475488" cy="475488"/>
          </a:xfrm>
          <a:prstGeom prst="roundRect">
            <a:avLst>
              <a:gd name="adj" fmla="val 13462"/>
            </a:avLst>
          </a:prstGeom>
          <a:solidFill>
            <a:srgbClr val="3B5B7D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640080" y="356616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4160520"/>
            <a:ext cx="25221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2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4480560"/>
            <a:ext cx="238498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Next.js interface for multi-modal input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3116504" y="3493008"/>
            <a:ext cx="365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DEDB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3436544" y="3566160"/>
            <a:ext cx="475488" cy="475488"/>
          </a:xfrm>
          <a:prstGeom prst="roundRect">
            <a:avLst>
              <a:gd name="adj" fmla="val 13462"/>
            </a:avLst>
          </a:prstGeom>
          <a:solidFill>
            <a:srgbClr val="2F6F6D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3436544" y="356616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3436544" y="4160520"/>
            <a:ext cx="25221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2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3436544" y="4480560"/>
            <a:ext cx="238498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backend orchestrates the analysis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5912968" y="3493008"/>
            <a:ext cx="365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DEDB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6233008" y="3566160"/>
            <a:ext cx="475488" cy="475488"/>
          </a:xfrm>
          <a:prstGeom prst="roundRect">
            <a:avLst>
              <a:gd name="adj" fmla="val 13462"/>
            </a:avLst>
          </a:prstGeom>
          <a:solidFill>
            <a:srgbClr val="9C6B30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233008" y="356616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6233008" y="4160520"/>
            <a:ext cx="25221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2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Core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6233008" y="4480560"/>
            <a:ext cx="238498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reasons over text, images, and links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8709431" y="3493008"/>
            <a:ext cx="365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DEDB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9029471" y="3566160"/>
            <a:ext cx="475488" cy="475488"/>
          </a:xfrm>
          <a:prstGeom prst="roundRect">
            <a:avLst>
              <a:gd name="adj" fmla="val 13462"/>
            </a:avLst>
          </a:prstGeom>
          <a:solidFill>
            <a:srgbClr val="AA5B3F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9029471" y="356616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9029471" y="4160520"/>
            <a:ext cx="25221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2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500" dirty="0"/>
          </a:p>
        </p:txBody>
      </p:sp>
      <p:sp>
        <p:nvSpPr>
          <p:cNvPr id="24" name="Text 22"/>
          <p:cNvSpPr txBox="1"/>
          <p:nvPr/>
        </p:nvSpPr>
        <p:spPr>
          <a:xfrm>
            <a:off x="9029471" y="4480560"/>
            <a:ext cx="238498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report with score and next steps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640080" y="64465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ScamGuard</a:t>
            </a:r>
            <a:endParaRPr lang="en-US" sz="900" dirty="0"/>
          </a:p>
        </p:txBody>
      </p:sp>
      <p:sp>
        <p:nvSpPr>
          <p:cNvPr id="26" name="Text 2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8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3520440" cy="310896"/>
          </a:xfrm>
          <a:prstGeom prst="roundRect">
            <a:avLst>
              <a:gd name="adj" fmla="val 17647"/>
            </a:avLst>
          </a:prstGeom>
          <a:solidFill>
            <a:srgbClr val="9C6B30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502920"/>
            <a:ext cx="3520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INTERFACE &amp; OUTPUT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005840"/>
            <a:ext cx="1091153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25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Report, Three Parts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664208"/>
            <a:ext cx="1091153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Complex intelligence, turned into a clear, high-clarity report.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40080" y="3520440"/>
            <a:ext cx="475488" cy="475488"/>
          </a:xfrm>
          <a:prstGeom prst="roundRect">
            <a:avLst>
              <a:gd name="adj" fmla="val 13462"/>
            </a:avLst>
          </a:prstGeom>
          <a:solidFill>
            <a:srgbClr val="9C6B30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640080" y="352044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1316736" y="3493008"/>
            <a:ext cx="271668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2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Verdict &amp; Score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1316736" y="3831336"/>
            <a:ext cx="271668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instant risk badge — e.g. 92% Critical — with a plain summary.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399178" y="3520440"/>
            <a:ext cx="475488" cy="475488"/>
          </a:xfrm>
          <a:prstGeom prst="roundRect">
            <a:avLst>
              <a:gd name="adj" fmla="val 13462"/>
            </a:avLst>
          </a:prstGeom>
          <a:solidFill>
            <a:srgbClr val="AA5B3F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399178" y="352044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5075834" y="3493008"/>
            <a:ext cx="271668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2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Attack Breakdown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5075834" y="3831336"/>
            <a:ext cx="271668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lure, the mechanism, and the impact, explained simply.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8158277" y="3520440"/>
            <a:ext cx="475488" cy="475488"/>
          </a:xfrm>
          <a:prstGeom prst="roundRect">
            <a:avLst>
              <a:gd name="adj" fmla="val 13462"/>
            </a:avLst>
          </a:prstGeom>
          <a:solidFill>
            <a:srgbClr val="2F6F6D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8158277" y="352044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8834933" y="3493008"/>
            <a:ext cx="271668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2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Checklist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8834933" y="3831336"/>
            <a:ext cx="271668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Exactly what to do right now, step by step.</a:t>
            </a:r>
            <a:endParaRPr lang="en-US" sz="1250" dirty="0"/>
          </a:p>
        </p:txBody>
      </p:sp>
      <p:sp>
        <p:nvSpPr>
          <p:cNvPr id="18" name="Text 16"/>
          <p:cNvSpPr txBox="1"/>
          <p:nvPr/>
        </p:nvSpPr>
        <p:spPr>
          <a:xfrm>
            <a:off x="640080" y="64465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ScamGuard</a:t>
            </a:r>
            <a:endParaRPr lang="en-US" sz="900" dirty="0"/>
          </a:p>
        </p:txBody>
      </p:sp>
      <p:sp>
        <p:nvSpPr>
          <p:cNvPr id="19" name="Text 17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8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3657600" cy="310896"/>
          </a:xfrm>
          <a:prstGeom prst="roundRect">
            <a:avLst>
              <a:gd name="adj" fmla="val 17647"/>
            </a:avLst>
          </a:prstGeom>
          <a:solidFill>
            <a:srgbClr val="2F6F6D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502920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TRUST, PRIVACY &amp; GOVERNANCE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005840"/>
            <a:ext cx="1091153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25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Nothing Is Stored. Ever.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664208"/>
            <a:ext cx="1091153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Zero-retention architecture — privacy by design.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40080" y="3520440"/>
            <a:ext cx="475488" cy="475488"/>
          </a:xfrm>
          <a:prstGeom prst="roundRect">
            <a:avLst>
              <a:gd name="adj" fmla="val 13462"/>
            </a:avLst>
          </a:prstGeom>
          <a:solidFill>
            <a:srgbClr val="2F6F6D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640080" y="352044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1316736" y="3493008"/>
            <a:ext cx="271668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2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Data at Rest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1316736" y="3831336"/>
            <a:ext cx="271668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Messages are processed in memory, then purged immediately.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399178" y="3520440"/>
            <a:ext cx="475488" cy="475488"/>
          </a:xfrm>
          <a:prstGeom prst="roundRect">
            <a:avLst>
              <a:gd name="adj" fmla="val 13462"/>
            </a:avLst>
          </a:prstGeom>
          <a:solidFill>
            <a:srgbClr val="3B5B7D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399178" y="352044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5075834" y="3493008"/>
            <a:ext cx="271668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2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Accounts, No PII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5075834" y="3831336"/>
            <a:ext cx="271668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login, no email, no phone number — nothing to track.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8158277" y="3520440"/>
            <a:ext cx="475488" cy="475488"/>
          </a:xfrm>
          <a:prstGeom prst="roundRect">
            <a:avLst>
              <a:gd name="adj" fmla="val 13462"/>
            </a:avLst>
          </a:prstGeom>
          <a:solidFill>
            <a:srgbClr val="9C6B30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8158277" y="352044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8834933" y="3493008"/>
            <a:ext cx="271668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2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Encrypted in Transit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8834933" y="3831336"/>
            <a:ext cx="271668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connection is secured with TLS 1.3, end to end.</a:t>
            </a:r>
            <a:endParaRPr lang="en-US" sz="1250" dirty="0"/>
          </a:p>
        </p:txBody>
      </p:sp>
      <p:sp>
        <p:nvSpPr>
          <p:cNvPr id="18" name="Text 16"/>
          <p:cNvSpPr txBox="1"/>
          <p:nvPr/>
        </p:nvSpPr>
        <p:spPr>
          <a:xfrm>
            <a:off x="640080" y="64465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ScamGuard</a:t>
            </a:r>
            <a:endParaRPr lang="en-US" sz="900" dirty="0"/>
          </a:p>
        </p:txBody>
      </p:sp>
      <p:sp>
        <p:nvSpPr>
          <p:cNvPr id="19" name="Text 17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8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705432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6705432" y="0"/>
            <a:ext cx="5486263" cy="6858000"/>
          </a:xfrm>
          <a:prstGeom prst="rect">
            <a:avLst/>
          </a:prstGeom>
          <a:solidFill>
            <a:srgbClr val="F6EAE4"/>
          </a:solidFill>
          <a:ln/>
        </p:spPr>
      </p:sp>
      <p:sp>
        <p:nvSpPr>
          <p:cNvPr id="4" name="Shape 2"/>
          <p:cNvSpPr/>
          <p:nvPr/>
        </p:nvSpPr>
        <p:spPr>
          <a:xfrm>
            <a:off x="640080" y="502920"/>
            <a:ext cx="1371600" cy="310896"/>
          </a:xfrm>
          <a:prstGeom prst="roundRect">
            <a:avLst>
              <a:gd name="adj" fmla="val 17647"/>
            </a:avLst>
          </a:prstGeom>
          <a:solidFill>
            <a:srgbClr val="AA5B3F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502920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00584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C25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What's Next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640080" y="1828800"/>
            <a:ext cx="475488" cy="475488"/>
          </a:xfrm>
          <a:prstGeom prst="roundRect">
            <a:avLst>
              <a:gd name="adj" fmla="val 13462"/>
            </a:avLst>
          </a:prstGeom>
          <a:solidFill>
            <a:srgbClr val="AA5B3F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40080" y="182880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1316736" y="1801368"/>
            <a:ext cx="474861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2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 Shield Extension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1316736" y="2139696"/>
            <a:ext cx="474861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scanning of checkout forms and fake banking portals.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40080" y="2880360"/>
            <a:ext cx="475488" cy="475488"/>
          </a:xfrm>
          <a:prstGeom prst="roundRect">
            <a:avLst>
              <a:gd name="adj" fmla="val 13462"/>
            </a:avLst>
          </a:prstGeom>
          <a:solidFill>
            <a:srgbClr val="9C6B30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40080" y="288036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1316736" y="2852928"/>
            <a:ext cx="474861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2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SMS Gateway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1316736" y="3191256"/>
            <a:ext cx="474861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 iOS &amp; Android background threat screening.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40080" y="3931920"/>
            <a:ext cx="475488" cy="475488"/>
          </a:xfrm>
          <a:prstGeom prst="roundRect">
            <a:avLst>
              <a:gd name="adj" fmla="val 13462"/>
            </a:avLst>
          </a:prstGeom>
          <a:solidFill>
            <a:srgbClr val="2F6F6D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40080" y="393192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1316736" y="3904488"/>
            <a:ext cx="474861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2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Crowdsourced Threat Radar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1316736" y="4242816"/>
            <a:ext cx="474861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Anonymized telemetry flags local scam campaigns early.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40080" y="4983480"/>
            <a:ext cx="475488" cy="475488"/>
          </a:xfrm>
          <a:prstGeom prst="roundRect">
            <a:avLst>
              <a:gd name="adj" fmla="val 13462"/>
            </a:avLst>
          </a:prstGeom>
          <a:solidFill>
            <a:srgbClr val="3B5B7D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640080" y="498348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1316736" y="4956048"/>
            <a:ext cx="474861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2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Fraud API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1316736" y="5294376"/>
            <a:ext cx="474861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fraud triage for banking &amp; fintech partners.</a:t>
            </a:r>
            <a:endParaRPr lang="en-US" sz="1250" dirty="0"/>
          </a:p>
        </p:txBody>
      </p:sp>
      <p:sp>
        <p:nvSpPr>
          <p:cNvPr id="23" name="Text 21"/>
          <p:cNvSpPr txBox="1"/>
          <p:nvPr/>
        </p:nvSpPr>
        <p:spPr>
          <a:xfrm>
            <a:off x="7345512" y="1965960"/>
            <a:ext cx="4388983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600" i="1" dirty="0">
                <a:solidFill>
                  <a:srgbClr val="1C25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“In an era where attacks exploit human emotion, education and transparency are the ultimate armor.”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7345512" y="3657600"/>
            <a:ext cx="4388983" cy="0"/>
          </a:xfrm>
          <a:prstGeom prst="line">
            <a:avLst/>
          </a:prstGeom>
          <a:noFill/>
          <a:ln w="12700">
            <a:solidFill>
              <a:srgbClr val="DEDBD3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7345512" y="3886200"/>
            <a:ext cx="4388983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C2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 free &amp; accessible</a:t>
            </a:r>
            <a:endParaRPr lang="en-US" sz="1250" dirty="0"/>
          </a:p>
        </p:txBody>
      </p:sp>
      <p:sp>
        <p:nvSpPr>
          <p:cNvPr id="26" name="Text 24"/>
          <p:cNvSpPr txBox="1"/>
          <p:nvPr/>
        </p:nvSpPr>
        <p:spPr>
          <a:xfrm>
            <a:off x="7345512" y="4270248"/>
            <a:ext cx="4388983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C2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Sub-2-second analysis</a:t>
            </a:r>
            <a:endParaRPr lang="en-US" sz="1250" dirty="0"/>
          </a:p>
        </p:txBody>
      </p:sp>
      <p:sp>
        <p:nvSpPr>
          <p:cNvPr id="27" name="Text 25"/>
          <p:cNvSpPr txBox="1"/>
          <p:nvPr/>
        </p:nvSpPr>
        <p:spPr>
          <a:xfrm>
            <a:off x="7345512" y="4654296"/>
            <a:ext cx="4388983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C2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Enterprise-grade intel for everyone</a:t>
            </a:r>
            <a:endParaRPr lang="en-US" sz="1250" dirty="0"/>
          </a:p>
        </p:txBody>
      </p:sp>
      <p:sp>
        <p:nvSpPr>
          <p:cNvPr id="28" name="Text 26"/>
          <p:cNvSpPr txBox="1"/>
          <p:nvPr/>
        </p:nvSpPr>
        <p:spPr>
          <a:xfrm>
            <a:off x="640080" y="64465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ScamGuard</a:t>
            </a:r>
            <a:endParaRPr lang="en-US" sz="900" dirty="0"/>
          </a:p>
        </p:txBody>
      </p:sp>
      <p:sp>
        <p:nvSpPr>
          <p:cNvPr id="29" name="Text 27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8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2026-09-09T00:31:38Z</dcterms:created>
  <dcterms:modified xsi:type="dcterms:W3CDTF">2026-09-09T00:31:38Z</dcterms:modified>
</cp:coreProperties>
</file>